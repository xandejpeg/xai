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ta do pred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71624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0" y="0"/>
            <a:ext cx="2286000" cy="6858000"/>
          </a:xfrm>
          <a:prstGeom prst="rect">
            <a:avLst/>
          </a:prstGeom>
          <a:solidFill>
            <a:srgbClr val="1F293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36576" cy="20116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INVESTMENT 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45720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A"/>
                </a:solidFill>
                <a:latin typeface="Georgia"/>
              </a:rPr>
              <a:t>Real Estate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A"/>
                </a:solidFill>
                <a:latin typeface="Georgia"/>
              </a:rPr>
              <a:t>Opportunity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A"/>
                </a:solidFill>
                <a:latin typeface="Georgia"/>
              </a:rPr>
              <a:t>in São Paulo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5F1EA"/>
                </a:solidFill>
                <a:latin typeface="Georgia"/>
              </a:rPr>
              <a:t>Praça da República · 162/166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9A961"/>
                </a:solidFill>
                <a:latin typeface="Calibri"/>
              </a:rPr>
              <a:t>Historic Center · São Paulo, Brazil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C9A961"/>
                </a:solidFill>
                <a:latin typeface="Calibri"/>
              </a:rPr>
              <a:t>HERITAGE-LISTED · 4,000 sqm · ZEU ZONING · REQUALIFICA CENTRO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937"/>
                </a:solidFill>
                <a:latin typeface="Georgia"/>
              </a:rPr>
              <a:t>A singular asset in the heart of São Paulo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9164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920240"/>
            <a:ext cx="576072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A 4,000 sqm commercial building located on Praça da República, directly facing the subway station (Lines 3-Red and 4-Yellow). The former headquarters of the State of São Paulo's Department of Education is a heritage-listed asset with consolidated documentation and full eligibility for the Requalifica Centro Program — the most aggressive tax incentive package ever offered for downtown São Paulo.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920240"/>
            <a:ext cx="24688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0" y="1920240"/>
            <a:ext cx="73152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0574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7280"/>
                </a:solidFill>
                <a:latin typeface="Calibri"/>
              </a:rPr>
              <a:t>BUILT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3172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4,000 sqm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803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B6F3E"/>
                </a:solidFill>
                <a:latin typeface="Calibri"/>
              </a:rPr>
              <a:t>13 floors + mezzanine + loft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920240"/>
            <a:ext cx="24688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0" y="1920240"/>
            <a:ext cx="73152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20574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7280"/>
                </a:solidFill>
                <a:latin typeface="Calibri"/>
              </a:rPr>
              <a:t>APPRAISAL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33172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USD 5.6–10M*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8803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B6F3E"/>
                </a:solidFill>
                <a:latin typeface="Calibri"/>
              </a:rPr>
              <a:t>direct sale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3291840"/>
            <a:ext cx="24688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3291840"/>
            <a:ext cx="73152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4290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7280"/>
                </a:solidFill>
                <a:latin typeface="Calibri"/>
              </a:rPr>
              <a:t>TITLES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70332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38 deeds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251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B6F3E"/>
                </a:solidFill>
                <a:latin typeface="Calibri"/>
              </a:rPr>
              <a:t>individually registered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3291840"/>
            <a:ext cx="24688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3291840"/>
            <a:ext cx="73152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34290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7280"/>
                </a:solidFill>
                <a:latin typeface="Calibri"/>
              </a:rPr>
              <a:t>ZONING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70332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ZEU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251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B6F3E"/>
                </a:solidFill>
                <a:latin typeface="Calibri"/>
              </a:rPr>
              <a:t>mixed-use, high density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937760"/>
            <a:ext cx="12191695" cy="13716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INVESTMENT PILLARS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406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5F1EA"/>
                </a:solidFill>
                <a:latin typeface="Calibri"/>
              </a:rPr>
              <a:t>Facing Praça da República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5F1EA"/>
                </a:solidFill>
                <a:latin typeface="Calibri"/>
              </a:rPr>
              <a:t>subway 100m away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4406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HERITAGE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76072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5F1EA"/>
                </a:solidFill>
                <a:latin typeface="Calibri"/>
              </a:rPr>
              <a:t>Officially listed building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5F1EA"/>
                </a:solidFill>
                <a:latin typeface="Calibri"/>
              </a:rPr>
              <a:t>historic 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4406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76072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5F1EA"/>
                </a:solidFill>
                <a:latin typeface="Calibri"/>
              </a:rPr>
              <a:t>38 individual deeds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5F1EA"/>
                </a:solidFill>
                <a:latin typeface="Calibri"/>
              </a:rPr>
              <a:t>full flexibility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4406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INCENTIVES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76072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5F1EA"/>
                </a:solidFill>
                <a:latin typeface="Calibri"/>
              </a:rPr>
              <a:t>Requalifica Centro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5F1EA"/>
                </a:solidFill>
                <a:latin typeface="Calibri"/>
              </a:rPr>
              <a:t>IPTU + ISS + ITBI + 25%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2976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280"/>
                </a:solidFill>
                <a:latin typeface="Calibri"/>
              </a:rPr>
              <a:t>* Local appraisal: BRL 31–56 million. USD figures at illustrative FX rate of 5.55.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961"/>
                </a:solidFill>
                <a:latin typeface="Calibri"/>
              </a:rPr>
              <a:t>02 / 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PRAÇA DA REPÚBLICA · 162/166 · HISTORIC CENTER · SÃO PAULO, BRAZIL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cepcao + elevado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0" y="0"/>
            <a:ext cx="7162495" cy="6858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5486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THE ASSET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914400"/>
            <a:ext cx="6400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Technical Profile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94960" y="169164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0" y="196596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ADDRESS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965960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Praça da República, 162/166 — Downtown, São Paulo, Brazil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276856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BUILT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276856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4,000 sqm (≈ 43,055 sqft)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587752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587752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13 floors + mezzanine + loft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898648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ROOMS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898648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30 wide units, flexible 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209544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ELEVATORS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209544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2 operating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52044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520440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Up to 600 simultaneous occupants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831336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ZONING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831336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ZEU — Centrality Zone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142232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TITLES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142232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38 individually registered deeds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453128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FIRE CERT.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453128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AVCB — fully compliant, up to 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4764024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764024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Former HQ — São Paulo State Dept. of Education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507492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HERITAGE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5074920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Officially listed building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5385816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PROPERTY TAX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5385816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≈ BRL 13,000 / month (whole building)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ao varan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80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F2937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STRATEGIC 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4864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5F1EA"/>
                </a:solidFill>
                <a:latin typeface="Georgia"/>
              </a:rPr>
              <a:t>Heart of</a:t>
            </a:r>
          </a:p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5F1EA"/>
                </a:solidFill>
                <a:latin typeface="Georgia"/>
              </a:rPr>
              <a:t>downtown SP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60604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92608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961"/>
                </a:solidFill>
                <a:latin typeface="Georgia"/>
              </a:rPr>
              <a:t>100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97180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5F1EA"/>
                </a:solidFill>
                <a:latin typeface="Calibri"/>
              </a:rPr>
              <a:t>from República subway station — Lines 3-Red and 4-Yellow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961"/>
                </a:solidFill>
                <a:latin typeface="Georgia"/>
              </a:rPr>
              <a:t>Direct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61188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5F1EA"/>
                </a:solidFill>
                <a:latin typeface="Calibri"/>
              </a:rPr>
              <a:t>access to Ipiranga, São João, São Luís and Consolação avenues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961"/>
                </a:solidFill>
                <a:latin typeface="Georgia"/>
              </a:rPr>
              <a:t>Nearby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25196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5F1EA"/>
                </a:solidFill>
                <a:latin typeface="Calibri"/>
              </a:rPr>
              <a:t>Copan Building, Mário de Andrade Library, Municipal Theater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961"/>
                </a:solidFill>
                <a:latin typeface="Georgia"/>
              </a:rPr>
              <a:t>Inside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89204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5F1EA"/>
                </a:solidFill>
                <a:latin typeface="Calibri"/>
              </a:rPr>
              <a:t>the accelerated urban redevelopment perimeter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8640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961"/>
                </a:solidFill>
                <a:latin typeface="Georgia"/>
              </a:rPr>
              <a:t>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53212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5F1EA"/>
                </a:solidFill>
                <a:latin typeface="Calibri"/>
              </a:rPr>
              <a:t>for commercial, legal, educational, cultural and tourism 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961"/>
                </a:solidFill>
                <a:latin typeface="Calibri"/>
              </a:rPr>
              <a:t>04 /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5F1EA"/>
                </a:solidFill>
                <a:latin typeface="Calibri"/>
              </a:rPr>
              <a:t>PRAÇA DA REPÚBLICA · 162/166 · HISTORIC CENTER · SÃO PAULO, BRAZIL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LAYOUT &amp; FLEXIBILITY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2937"/>
                </a:solidFill>
                <a:latin typeface="Georgia"/>
              </a:rPr>
              <a:t>30 wide rooms · 38 individually registered deeds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9164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920240"/>
            <a:ext cx="50292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Each floor was designed to host large-scale corporate operations. The 38 independent property titles allow for partial sales, segregated collateral and flexible financial structuring — from full single-tenant sale to the assembly of a real estate fund (REIT) with multiple investors.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Open floor plans with widely-spaced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52544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52544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Generous ceiling height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81728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81728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Full-height windows with natural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1091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10912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Power distribution segmented by floor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40096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40096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Adaptable to open space, private offices or auditorium</a:t>
            </a:r>
          </a:p>
        </p:txBody>
      </p:sp>
      <p:pic>
        <p:nvPicPr>
          <p:cNvPr id="16" name="Picture 15" descr="sala gran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20240"/>
            <a:ext cx="5760720" cy="2286000"/>
          </a:xfrm>
          <a:prstGeom prst="rect">
            <a:avLst/>
          </a:prstGeom>
        </p:spPr>
      </p:pic>
      <p:pic>
        <p:nvPicPr>
          <p:cNvPr id="17" name="Picture 16" descr="visao interna + externa 3 amplia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343400"/>
            <a:ext cx="5760720" cy="228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937"/>
                </a:solidFill>
                <a:latin typeface="Georgia"/>
              </a:rPr>
              <a:t>Ready to operate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9164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elevado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657600" cy="2377440"/>
          </a:xfrm>
          <a:prstGeom prst="rect">
            <a:avLst/>
          </a:prstGeom>
        </p:spPr>
      </p:pic>
      <p:pic>
        <p:nvPicPr>
          <p:cNvPr id="6" name="Picture 5" descr="quadro de luz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920240"/>
            <a:ext cx="3657600" cy="2377440"/>
          </a:xfrm>
          <a:prstGeom prst="rect">
            <a:avLst/>
          </a:prstGeom>
        </p:spPr>
      </p:pic>
      <p:pic>
        <p:nvPicPr>
          <p:cNvPr id="7" name="Picture 6" descr="corredor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920240"/>
            <a:ext cx="3200400" cy="23774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4572000"/>
            <a:ext cx="54864" cy="8229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6F3E"/>
                </a:solidFill>
                <a:latin typeface="Calibri"/>
              </a:rPr>
              <a:t>ELEVATORS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2 operating units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4572000"/>
            <a:ext cx="54864" cy="8229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5720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6F3E"/>
                </a:solidFill>
                <a:latin typeface="Calibri"/>
              </a:rPr>
              <a:t>ELECTRICAL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89204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Power panel segmented by floor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572000"/>
            <a:ext cx="54864" cy="8229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5720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6F3E"/>
                </a:solidFill>
                <a:latin typeface="Calibri"/>
              </a:rPr>
              <a:t>CIRCULATION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9204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Wide corridors and double staircase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77840"/>
            <a:ext cx="54864" cy="8229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57784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6F3E"/>
                </a:solidFill>
                <a:latin typeface="Calibri"/>
              </a:rPr>
              <a:t>FIRE CERT.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AVCB compliant and up to 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5577840"/>
            <a:ext cx="54864" cy="8229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557784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6F3E"/>
                </a:solidFill>
                <a:latin typeface="Calibri"/>
              </a:rPr>
              <a:t>HVAC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589788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Split + cassette systems in approved 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5577840"/>
            <a:ext cx="54864" cy="8229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557784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6F3E"/>
                </a:solidFill>
                <a:latin typeface="Calibri"/>
              </a:rPr>
              <a:t>TECH ARCHIVE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89788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Architectural plans and drawings 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breloja vista r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80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0" y="0"/>
            <a:ext cx="914400" cy="6858000"/>
          </a:xfrm>
          <a:prstGeom prst="rect">
            <a:avLst/>
          </a:prstGeom>
          <a:solidFill>
            <a:srgbClr val="1F29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THE INVESTMENT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94360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F5F1EA"/>
                </a:solidFill>
                <a:latin typeface="Georgia"/>
              </a:rPr>
              <a:t>Requalifica</a:t>
            </a:r>
          </a:p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F5F1EA"/>
                </a:solidFill>
                <a:latin typeface="Georgia"/>
              </a:rPr>
              <a:t>Centro</a:t>
            </a:r>
          </a:p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F5F1EA"/>
                </a:solidFill>
                <a:latin typeface="Georgia"/>
              </a:rPr>
              <a:t>Program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65760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886200"/>
            <a:ext cx="54864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1">
                <a:solidFill>
                  <a:srgbClr val="F5F1EA"/>
                </a:solidFill>
                <a:latin typeface="Calibri"/>
              </a:rPr>
              <a:t>The asset is fully eligible under the most aggressive municipal incentive program ever launched for downtown São Paulo. The combination of tax exemptions, direct subsidy and fast-track permitting structurally transforms the investment equation.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C9A961"/>
                </a:solidFill>
                <a:latin typeface="Calibri"/>
              </a:rPr>
              <a:t>Legal basis: Municipal Law 17,577/2021 · Law 17,844/2022 (AIU-SCE) · Decrees 61,311/2022 and 62,465/2023 · IN SF/SUREM nº 01/2023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961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REQUALIFICA CENTRO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2937"/>
                </a:solidFill>
                <a:latin typeface="Georgia"/>
              </a:rPr>
              <a:t>Tax incentive stack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4592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0847" y="19202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0847" y="1920240"/>
            <a:ext cx="3657600" cy="4572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847" y="199339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IPTU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256032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Property Tax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310896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487" y="310896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Forgiveness of all prior tax debt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342900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487" y="342900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100% exemption for 3 years after CCR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374904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487" y="374904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Progressive rates from year 4 to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607" y="406908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487" y="406908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Full rate only restored in year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5167" y="5029200"/>
            <a:ext cx="3108960" cy="77724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167" y="507492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8B6F3E"/>
                </a:solidFill>
                <a:latin typeface="Calibri"/>
              </a:rPr>
              <a:t>DIRECT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167" y="5349240"/>
            <a:ext cx="31089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Georgia"/>
              </a:rPr>
              <a:t>Savings exceeding BRL 2,000,000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Georgia"/>
              </a:rPr>
              <a:t>over an 8-year cycle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047" y="19202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67047" y="1920240"/>
            <a:ext cx="3657600" cy="4572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7047" y="199339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ISS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367" y="256032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Service Tax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2807" y="310896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5687" y="310896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Rate reduced from 5% to 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2807" y="342900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5687" y="342900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Applies to construction, engineering,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2807" y="374904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5687" y="374904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architecture and refurbishment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2807" y="406908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5687" y="406908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linked to the retrofit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41367" y="5029200"/>
            <a:ext cx="3108960" cy="77724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1367" y="507492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8B6F3E"/>
                </a:solidFill>
                <a:latin typeface="Calibri"/>
              </a:rPr>
              <a:t>DIRECT 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1367" y="5349240"/>
            <a:ext cx="31089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Georgia"/>
              </a:rPr>
              <a:t>Savings of BRL 300,000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Georgia"/>
              </a:rPr>
              <a:t>on a BRL 10M retrofit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53247" y="19202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53247" y="1920240"/>
            <a:ext cx="3657600" cy="4572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3247" y="199339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ITBI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7567" y="256032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Transfer Tax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9007" y="310896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1887" y="310896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Full exemption on transfers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19007" y="342900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1887" y="342900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destined for requalification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19007" y="374904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1887" y="374904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Drastically reduces acquisition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19007" y="406908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01887" y="406908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and structuring costs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27567" y="5029200"/>
            <a:ext cx="3108960" cy="77724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27567" y="507492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8B6F3E"/>
                </a:solidFill>
                <a:latin typeface="Calibri"/>
              </a:rPr>
              <a:t>DIRECT IMPACT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27567" y="5349240"/>
            <a:ext cx="31089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Georgia"/>
              </a:rPr>
              <a:t>100% exemption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Georgia"/>
              </a:rPr>
              <a:t>on acquisition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Current property tax ≈ BRL 13,000/month · 3-year exemption = BRL 468,000 saved on IPTU alone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REQUALIFICA CENTRO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2937"/>
                </a:solidFill>
                <a:latin typeface="Georgia"/>
              </a:rPr>
              <a:t>Direct subsidy + fast track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4592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965960"/>
            <a:ext cx="5760720" cy="36576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DIRECT GOVERNMENT SUBSIDY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5486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F1EA"/>
                </a:solidFill>
                <a:latin typeface="Georgia"/>
              </a:rPr>
              <a:t>Up to 25%</a:t>
            </a:r>
          </a:p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F1EA"/>
                </a:solidFill>
                <a:latin typeface="Georgia"/>
              </a:rPr>
              <a:t>non-refundable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54864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5F1EA"/>
                </a:solidFill>
                <a:latin typeface="Calibri"/>
              </a:rPr>
              <a:t>Direct municipal grant over construction costs, awarded through public calls issued by the Municipal Department of Urbanism and Licensing (SMUL).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029200"/>
            <a:ext cx="5212080" cy="4572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On a BRL 10M retrofit → up to BRL 2,500,000 non-refundable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6F3E"/>
                </a:solidFill>
                <a:latin typeface="Calibri"/>
              </a:rPr>
              <a:t>FAST-TRACK PERMITTING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23160"/>
            <a:ext cx="5486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Summary rite · 60 business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0040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20040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Project approval in up to 60 business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65760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65760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Municipal licensing fees waived for 5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1480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11480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Inspection fees waived during the same period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57200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57200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Priority status in public-sector contracts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5212080"/>
            <a:ext cx="5212080" cy="1097280"/>
          </a:xfrm>
          <a:prstGeom prst="rect">
            <a:avLst/>
          </a:prstGeom>
          <a:solidFill>
            <a:srgbClr val="168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53035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 ELIGIBILITY CONFIRMED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62356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Pre-1992 building + ZEU Zone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Article 37 of Law 17,844/2022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937"/>
                </a:solidFill>
                <a:latin typeface="Georgia"/>
              </a:rPr>
              <a:t>Multiple operating models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9164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96596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73152" cy="12344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Corporate Headquarters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51206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For companies seeking representativeness, centrality and a prestige address in São Paulo.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965960"/>
            <a:ext cx="73152" cy="12344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REIT / Real Estate Fund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514600"/>
            <a:ext cx="51206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Ideal asset for income portfolio composition — 38 deeds enable phased acquisitions.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83280"/>
            <a:ext cx="73152" cy="12344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2044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Education Operation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31920"/>
            <a:ext cx="51206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Structure compatible with universities, training centers, technical schools and open courses.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38328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383280"/>
            <a:ext cx="73152" cy="12344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52044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Mixed-Use Retrofit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931920"/>
            <a:ext cx="51206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Conversion to residential, hospitality or mixed use with enhanced municipal incentives.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0060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800600"/>
            <a:ext cx="73152" cy="12344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Family Office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49240"/>
            <a:ext cx="51206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Patrimonial positioning in a historic asset with cultural status and high fractional liquidity.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80060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800600"/>
            <a:ext cx="73152" cy="12344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93776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Institutional HQ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349240"/>
            <a:ext cx="51206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Natural vocation for government bodies, cultural institutions, foundations or NGOs.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PROJECTED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937"/>
                </a:solidFill>
                <a:latin typeface="Georgia"/>
              </a:rPr>
              <a:t>Investment return scenarios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9164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Simulation after acquisition and retrofit · based on local m² appreciation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007" y="256032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8007" y="2560320"/>
            <a:ext cx="2651760" cy="50292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007" y="2670048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CONSERVATIVE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007" y="333756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007" y="36118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BRL 31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007" y="434340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CAP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007" y="457200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5.8%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007" y="516636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10-YEAR ROI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007" y="53949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58%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2647" y="256032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2647" y="2560320"/>
            <a:ext cx="2651760" cy="5029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2647" y="2670048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MODERATE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2647" y="333756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ACQUISITION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2647" y="36118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BRL 43.5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2647" y="434340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CAP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2647" y="457200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6.1%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2647" y="516636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10-YEAR 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2647" y="53949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61%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256032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7287" y="2560320"/>
            <a:ext cx="2651760" cy="502920"/>
          </a:xfrm>
          <a:prstGeom prst="rect">
            <a:avLst/>
          </a:prstGeom>
          <a:solidFill>
            <a:srgbClr val="8B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7287" y="2670048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REALISTIC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333756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ACQUISITION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7287" y="36118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BRL 43.5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7287" y="434340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CAP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7287" y="457200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7.4%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7287" y="516636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10-YEAR ROI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7287" y="53949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74%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21927" y="256032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21927" y="2560320"/>
            <a:ext cx="2651760" cy="5029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21927" y="2670048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OPTIMISTIC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1927" y="333756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ACQUISITION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1927" y="36118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BRL 56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1927" y="434340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CAP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1927" y="457200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6.9%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21927" y="516636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10-YEAR ROI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21927" y="53949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69%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6B7280"/>
                </a:solidFill>
                <a:latin typeface="Calibri"/>
              </a:rPr>
              <a:t>Scenarios do not include additional Requalifica Centro savings — which may add 8 to 15 percentage points to ROI.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ao varanda 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3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0" y="0"/>
            <a:ext cx="914400" cy="6858000"/>
          </a:xfrm>
          <a:prstGeom prst="rect">
            <a:avLst/>
          </a:prstGeom>
          <a:solidFill>
            <a:srgbClr val="F5F1E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LEGAL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2937"/>
                </a:solidFill>
                <a:latin typeface="Georgia"/>
              </a:rPr>
              <a:t>Documentation ready to operate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9164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01168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38 individual deeds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Enables partial sales and segregated collateral structures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24912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AVCB compliant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Fire department certification active and up to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38144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38144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Complete tech archive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30752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Original architectural plans and drawings 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51376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51376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Heritage as upside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43984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Eligible for the "Requalified Heritage" seal and cultural funding 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64608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64608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Collateral-ready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57216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Compatible with fiduciary assignment and structured financing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7784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Open due diligence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70448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Full documentation made available under NDA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126480"/>
            <a:ext cx="5943600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199632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NEXT STEPS · site visit · NDA · formal offer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731520"/>
            <a:ext cx="7619695" cy="2286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029200" y="3291840"/>
            <a:ext cx="2133295" cy="0"/>
          </a:xfrm>
          <a:prstGeom prst="line">
            <a:avLst/>
          </a:prstGeom>
          <a:ln w="2540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23360"/>
            <a:ext cx="1219169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F2937"/>
                </a:solidFill>
                <a:latin typeface="Georgia"/>
              </a:rPr>
              <a:t>Nicollas J. Haimerl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8B6F3E"/>
                </a:solidFill>
                <a:latin typeface="Calibri"/>
              </a:rPr>
              <a:t>nicollas.joseph@mcap.com.br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REAL ESTATE INVESTMENT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F5F1EA"/>
                </a:solidFill>
                <a:latin typeface="Calibri"/>
              </a:rPr>
              <a:t>Praça da República, 162/166 · Historic Center · São Paulo, Brazil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