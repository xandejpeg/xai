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ta do pre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624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2286000" cy="6858000"/>
          </a:xfrm>
          <a:prstGeom prst="rect">
            <a:avLst/>
          </a:prstGeom>
          <a:solidFill>
            <a:srgbClr val="1F293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36576" cy="20116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DOSSIÊ DE 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5720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Oportunidade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Imobiliária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em São Paulo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5F1EA"/>
                </a:solidFill>
                <a:latin typeface="Georgia"/>
              </a:rPr>
              <a:t>Praça da República · 162/166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A961"/>
                </a:solidFill>
                <a:latin typeface="Calibri"/>
              </a:rPr>
              <a:t>Centro Histórico · São Paulo/SP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C9A961"/>
                </a:solidFill>
                <a:latin typeface="Calibri"/>
              </a:rPr>
              <a:t>EDIFÍCIO TOMBADO · 4.000 m² · ZONA ZEU · PROGRAMA REQUALIFICA CENTRO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Um ativo singular no coração de São Paulo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576072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Edifício comercial de 4.000 m² localizado na Praça da República, em frente à estação de metrô (Linhas 3-Vermelha e 4-Amarela). Antiga sede da Secretaria de Educação do Estado de São Paulo, é um imóvel tombado, com documentação consolidada e elegibilidade plena ao Programa Requalifica Centro — que oferece a combinação mais agressiva de incentivos fiscais já praticada no município.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9202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9202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ÁREA CONSTRUÍDA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4.000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13 andares + sobreloja + mezanino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9202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0" y="19202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AVALIAÇÃO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3317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R$ 31–56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venda direta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918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2918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FRAÇÕES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38 matrículas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desmembradas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291840"/>
            <a:ext cx="24688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3291840"/>
            <a:ext cx="73152" cy="12801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4290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7280"/>
                </a:solidFill>
                <a:latin typeface="Calibri"/>
              </a:rPr>
              <a:t>ZONEAMENTO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033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ZEU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51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B6F3E"/>
                </a:solidFill>
                <a:latin typeface="Calibri"/>
              </a:rPr>
              <a:t>uso misto, alta densidade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37760"/>
            <a:ext cx="12191695" cy="13716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PILARES DA OPORTUNIDADE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LOCALIZAÇÃO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Frente à Praça da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República · metrô 100m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PATRIMÔNIO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Edifício tombado ·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selo histórico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ESTRUTURA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38 frações ·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flexibilidade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INCENTIVOS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760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Requalifica Centro ·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5F1EA"/>
                </a:solidFill>
                <a:latin typeface="Calibri"/>
              </a:rPr>
              <a:t>IPTU + ISS + ITBI + 25%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02 /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280"/>
                </a:solidFill>
                <a:latin typeface="Calibri"/>
              </a:rPr>
              <a:t>PRAÇA DA REPÚBLICA · 162/166 · CENTRO HISTÓRICO · SÃO PAULO/SP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cepcao + elevad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62495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548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O 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914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Ficha Técnica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94960" y="196596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ENDEREÇO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96596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Praça da República, 162/166 — Centro, São Paulo/SP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7685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ÁREA CONSTRUÍDA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27685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4.000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58775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58775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13 andares + sobreloja + mezanino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89864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SALAS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89864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30 unidades amplas, layout flexível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0954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ELEVADORES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0954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unidades funcionais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20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CAPACIDADE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Até 600 pessoas simultâneas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83133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ZONEAMENTO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83133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ZEU — Zona de Centralidade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142232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MATRÍCULAS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142232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38 frações desmembradas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453128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AVCB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53128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Regular e atualizado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764024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HISTÓRICO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764024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Antiga sede da Secretaria de Educação do Estado de 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07492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TOMBAMENTO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74920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Imóvel tombado — patrimônio histórico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385816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B6F3E"/>
                </a:solidFill>
                <a:latin typeface="Calibri"/>
              </a:rPr>
              <a:t>IPTU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38581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≈ R$ 13.000 / mês no conjunto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ao vara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F2937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LOCALIZAÇÃO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486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1EA"/>
                </a:solidFill>
                <a:latin typeface="Georgia"/>
              </a:rPr>
              <a:t>No centro do</a:t>
            </a:r>
          </a:p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1EA"/>
                </a:solidFill>
                <a:latin typeface="Georgia"/>
              </a:rPr>
              <a:t>centro de SP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6060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92608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100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7180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da Estação República — Linhas 3-Vermelha e 4-Amarela do Metrô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Direto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1188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para Avenidas Ipiranga, São João, São Luís e Consolação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Entorno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25196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Edifício Copan, Biblioteca Mário de Andrade, Teatro Municipal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Perímetro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89204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de revitalização urbana acelerada (Requalifica Centro)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961"/>
                </a:solidFill>
                <a:latin typeface="Georgia"/>
              </a:rPr>
              <a:t>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53212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comercial, jurídico, educacional, cultural e turístico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04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5F1EA"/>
                </a:solidFill>
                <a:latin typeface="Calibri"/>
              </a:rPr>
              <a:t>PRAÇA DA REPÚBLICA · 162/166 · CENTRO HISTÓRICO · SÃO PAULO/SP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LAYOUT &amp; FLEXIBILIDADE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30 salas amplas · 38 frações desmembradas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50292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Cada pavimento foi concebido para receber operações corporativas de grande porte. As 38 matrículas autônomas permitem alienação fracionada, garantias segregadas e estruturação financeira flexível — desde venda integral para single-tenant até montagem de FII com múltiplos investidores.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Plantas livres com colunas espaçadas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52544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52544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Pé-direito generoso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81728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Janelões com luz natural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10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1091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Iluminação setorizada por andar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0096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40096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Layout adaptável a open space, salas privativas ou auditório</a:t>
            </a:r>
          </a:p>
        </p:txBody>
      </p:sp>
      <p:pic>
        <p:nvPicPr>
          <p:cNvPr id="16" name="Picture 15" descr="sala gran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760720" cy="2286000"/>
          </a:xfrm>
          <a:prstGeom prst="rect">
            <a:avLst/>
          </a:prstGeom>
        </p:spPr>
      </p:pic>
      <p:pic>
        <p:nvPicPr>
          <p:cNvPr id="17" name="Picture 16" descr="visao interna + externa 3 ampli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343400"/>
            <a:ext cx="576072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INFRAESTRUTURA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Pronto para operar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elevad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657600" cy="2377440"/>
          </a:xfrm>
          <a:prstGeom prst="rect">
            <a:avLst/>
          </a:prstGeom>
        </p:spPr>
      </p:pic>
      <p:pic>
        <p:nvPicPr>
          <p:cNvPr id="6" name="Picture 5" descr="quadro de lu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20240"/>
            <a:ext cx="3657600" cy="2377440"/>
          </a:xfrm>
          <a:prstGeom prst="rect">
            <a:avLst/>
          </a:prstGeom>
        </p:spPr>
      </p:pic>
      <p:pic>
        <p:nvPicPr>
          <p:cNvPr id="7" name="Picture 6" descr="corredor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920240"/>
            <a:ext cx="3200400" cy="2377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ELEVADORES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unidades funcionais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ELÉTRICA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Quadro setorizado andar a andar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57200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CIRCULAÇÃO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Corredores amplos e escadas duplas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AVCB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Regular e atualizado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CLIMATIZAÇÃO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Split + cassete em uso aprovado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5577840"/>
            <a:ext cx="54864" cy="8229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5577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ACERVO TÉCNICO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8978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Plantas e projetos disponíveis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breloja vista r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914400" cy="6858000"/>
          </a:xfrm>
          <a:prstGeom prst="rect">
            <a:avLst/>
          </a:prstGeom>
          <a:solidFill>
            <a:srgbClr val="1F293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A TESE DE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9436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Programa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Requalifica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5F1EA"/>
                </a:solidFill>
                <a:latin typeface="Georgia"/>
              </a:rPr>
              <a:t>Centro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65760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886200"/>
            <a:ext cx="54864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F5F1EA"/>
                </a:solidFill>
                <a:latin typeface="Calibri"/>
              </a:rPr>
              <a:t>O imóvel está plenamente inserido no perímetro de benefícios do programa municipal mais agressivo já lançado para o Centro de São Paulo. A combinação de incentivos tributários, subvenção direta e licenciamento expresso transforma a equação financeira do investimento.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C9A961"/>
                </a:solidFill>
                <a:latin typeface="Calibri"/>
              </a:rPr>
              <a:t>Base legal: Lei Municipal 17.577/2021 · Lei 17.844/2022 (AIU-SCE) · Decretos 61.311/2022 e 62.465/2023 · IN SF/SUREM nº 01/2023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961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REQUALIFICA CENTRO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Stack de incentivos tributários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4592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08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IPTU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Imposto Predial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Remissão integral de créditos anteriores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Isenção total por 3 anos após CCR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Alíquotas progressivas do 4º ao 8º 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4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Retorno integral apenas no 9º 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1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IMPACTO DIRETO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1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Economia &gt; R$ 2.000.000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no ciclo de 8 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0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0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Imposto sobre Serviços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8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6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Redução de 5% para 2% na alíquota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56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Aplicável a construção, engenharia,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8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56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arquitetura e reforma vinculadas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8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56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ao retrofit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13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13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IMPACTO DIRETO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13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Economia de R$ 300.000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em obra de R$ 10 milhões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3247" y="19202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3247" y="1920240"/>
            <a:ext cx="365760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3247" y="199339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ITBI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7567" y="25603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Transmissão de Imóveis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9007" y="310896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1887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Isenção total nas transmissões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9007" y="34290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1887" y="342900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destinadas à requalificação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9007" y="37490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1887" y="37490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Redução drástica do custo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9007" y="406908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1887" y="40690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de aquisição e estruturação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7567" y="5029200"/>
            <a:ext cx="3108960" cy="77724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7567" y="50749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B6F3E"/>
                </a:solidFill>
                <a:latin typeface="Calibri"/>
              </a:rPr>
              <a:t>IMPACTO DIRETO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7567" y="53492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Isenção 100%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2937"/>
                </a:solidFill>
                <a:latin typeface="Georgia"/>
              </a:rPr>
              <a:t>na aquisição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IPTU atual ≈ R$ 13.000/mês · Isenção de 3 anos = R$ 468.000 economizados só em IPTU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REQUALIFICA CENTRO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Subvenção direta + via expressa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4592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965960"/>
            <a:ext cx="5760720" cy="36576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SUBVENÇÃO ECONÔMICA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486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1EA"/>
                </a:solidFill>
                <a:latin typeface="Georgia"/>
              </a:rPr>
              <a:t>Até 25%</a:t>
            </a:r>
          </a:p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1EA"/>
                </a:solidFill>
                <a:latin typeface="Georgia"/>
              </a:rPr>
              <a:t>a fundo perdido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486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5F1EA"/>
                </a:solidFill>
                <a:latin typeface="Calibri"/>
              </a:rPr>
              <a:t>Aporte direto do município sobre o valor das obras, mediante participação em chamamentos públicos da Secretaria Municipal de Urbanismo e Licenciamento (SMUL).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5212080" cy="4572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Em obra de R$ 10 mi → até R$ 2.500.000 a fundo perdido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6F3E"/>
                </a:solidFill>
                <a:latin typeface="Calibri"/>
              </a:rPr>
              <a:t>LICENCIAMENTO EXPRESSO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2316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Rito sumário · 60 dias úteis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004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Aprovação de projetos em até 60 dias úteis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6576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Isenção de taxas municipais de licenciamento por 5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Isenção de taxas de fiscalização no mesmo período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5720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Prioridade em contratos com órgãos públicos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212080"/>
            <a:ext cx="5212080" cy="1097280"/>
          </a:xfrm>
          <a:prstGeom prst="rect">
            <a:avLst/>
          </a:prstGeom>
          <a:solidFill>
            <a:srgbClr val="168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3035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 ELEGIBILIDADE GARANTIDA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62356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Edificação anterior a 1992 + Zona ZEU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Art. 37 da Lei 17.844/2022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VOCAÇÕES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Múltiplos modelos de exploração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9659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Sede Corporativa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Para empresas que buscam representatividade, centralidade e endereço de prestígio em São Paulo.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Fundo Imobiliário (FII)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1460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Ativo com perfil ideal para composição de portfólio de renda — 38 frações permitem entrada faseada.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Operação Educacional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Estrutura compatível com faculdades, centros de treinamento, escolas técnicas e cursos livres.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8328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38328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2044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Retrofit Mixed-Use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3192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Conversão para uso residencial, hoteleiro ou misto com incentivos municipais ampliados.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Family Office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Posicionamento patrimonial em ativo histórico, com selo cultural e alta liquidez fracionada.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00600"/>
            <a:ext cx="54864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800600"/>
            <a:ext cx="73152" cy="12344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93776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Georgia"/>
              </a:rPr>
              <a:t>Sede Institucional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349240"/>
            <a:ext cx="5120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Vocação natural para órgãos públicos, instituições culturais, fundações ou OSCIPs.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RENTABILIDADE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937"/>
                </a:solidFill>
                <a:latin typeface="Georgia"/>
              </a:rPr>
              <a:t>Cenários projetados de retorno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Simulação pós-aquisição e retrofit · valorização do m² na região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0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2560320"/>
            <a:ext cx="2651760" cy="50292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00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CONSERVADOR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AQUISIÇÃO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R$ 31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5,8%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ROI 10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0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58%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264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2647" y="2560320"/>
            <a:ext cx="265176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264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MODERADO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64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AQUISIÇÃO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64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R$ 43,5 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264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64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6,1%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4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ROI 10 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64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560320"/>
            <a:ext cx="2651760" cy="502920"/>
          </a:xfrm>
          <a:prstGeom prst="rect">
            <a:avLst/>
          </a:prstGeom>
          <a:solidFill>
            <a:srgbClr val="8B6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728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AQUISIÇÃO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R$ 43,5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28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7,4%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728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ROI 10 ANOS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28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74%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21927" y="256032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21927" y="2560320"/>
            <a:ext cx="2651760" cy="5029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1927" y="267004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OTIMISTA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1927" y="33375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AQUISIÇÃO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927" y="3611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2937"/>
                </a:solidFill>
                <a:latin typeface="Georgia"/>
              </a:rPr>
              <a:t>R$ 56 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1927" y="43434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CAP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1927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6,9%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1927" y="516636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B6F3E"/>
                </a:solidFill>
                <a:latin typeface="Calibri"/>
              </a:rPr>
              <a:t>ROI 10 ANOS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1927" y="5394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69%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6B7280"/>
                </a:solidFill>
                <a:latin typeface="Calibri"/>
              </a:rPr>
              <a:t>Cenários não consideram a economia adicional do Requalifica Centro — que pode elevar o ROI em 8 a 15 pontos percentuais.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ao varanda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0" y="0"/>
            <a:ext cx="914400" cy="6858000"/>
          </a:xfrm>
          <a:prstGeom prst="rect">
            <a:avLst/>
          </a:prstGeom>
          <a:solidFill>
            <a:srgbClr val="F5F1E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SEGURANÇA JURÍDICA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937"/>
                </a:solidFill>
                <a:latin typeface="Georgia"/>
              </a:rPr>
              <a:t>Documentação pronta para operar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91640"/>
            <a:ext cx="1828800" cy="0"/>
          </a:xfrm>
          <a:prstGeom prst="line">
            <a:avLst/>
          </a:prstGeom>
          <a:ln w="317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01168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38 matrículas desmembradas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Alienações parciais e garantias segregadas possíveis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AVCB regular e atualizado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Auto de Vistoria do Corpo de Bombeiros em conformidade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4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Acervo técnico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Projetos arquitetônicos e plantas originais disponíveis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51376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51376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Tombamento como diferencial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4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Elegível ao selo "Patrimônio Histórico Requalificado" e linhas de fomento cultural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Pronto para garantias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Cessão fiduciária e financiamentos estruturados com instituições de primeira linha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961"/>
                </a:solidFill>
                <a:latin typeface="Calibri"/>
              </a:rPr>
              <a:t>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Due diligence aberta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7044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Toda a documentação disponível mediante NDA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126480"/>
            <a:ext cx="5943600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PRÓXIMOS PASSOS · visita técnica · NDA · proposta 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7619695" cy="2286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029200" y="3291840"/>
            <a:ext cx="2133295" cy="0"/>
          </a:xfrm>
          <a:prstGeom prst="line">
            <a:avLst/>
          </a:prstGeom>
          <a:ln w="254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B6F3E"/>
                </a:solidFill>
                <a:latin typeface="Calibri"/>
              </a:rPr>
              <a:t>CONTATO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F2937"/>
                </a:solidFill>
                <a:latin typeface="Georgia"/>
              </a:rPr>
              <a:t>Nicollas J. Haimerl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B6F3E"/>
                </a:solidFill>
                <a:latin typeface="Calibri"/>
              </a:rPr>
              <a:t>nicollas.joseph@mcap.com.br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OPORTUNIDADE DE INVESTIMENTO IMOBILIÁRIO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F5F1EA"/>
                </a:solidFill>
                <a:latin typeface="Calibri"/>
              </a:rPr>
              <a:t>Praça da República, 162/166 · Centro Histórico · São Paulo/SP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